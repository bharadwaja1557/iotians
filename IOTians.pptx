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ooper BT Bold" charset="1" panose="0208080404030B020404"/>
      <p:regular r:id="rId38"/>
    </p:embeddedFont>
    <p:embeddedFont>
      <p:font typeface="Cooper BT Light" charset="1" panose="0208050304030B020404"/>
      <p:regular r:id="rId39"/>
    </p:embeddedFont>
    <p:embeddedFont>
      <p:font typeface="Canva Sans" charset="1" panose="020B05030305010401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5433" y="1261343"/>
            <a:ext cx="13117134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Pipelined AES-128 Encryption Module for PYNQ 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09084" y="510455"/>
            <a:ext cx="7469832" cy="42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CS666: Hardware Security of Internet of Things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32766"/>
            <a:ext cx="16230600" cy="42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Department of Computer Science and Engineering, Indian Institute of Technology Kanpur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86350" y="4264894"/>
            <a:ext cx="8115300" cy="8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IOTians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94636" y="5499651"/>
            <a:ext cx="6498729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Ajith Addala [2511100</a:t>
            </a:r>
            <a:r>
              <a:rPr lang="en-US" sz="33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06</a:t>
            </a: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]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Mavilla Bharadwaja [2511100</a:t>
            </a:r>
            <a:r>
              <a:rPr lang="en-US" sz="33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21</a:t>
            </a: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]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Harsh Sanjay Pandey [2511100</a:t>
            </a:r>
            <a:r>
              <a:rPr lang="en-US" sz="33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35</a:t>
            </a: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]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Kamal Gupta [2511100</a:t>
            </a:r>
            <a:r>
              <a:rPr lang="en-US" sz="33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41</a:t>
            </a: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]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Shikha Yadav [2511100</a:t>
            </a:r>
            <a:r>
              <a:rPr lang="en-US" sz="33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67</a:t>
            </a:r>
            <a:r>
              <a:rPr lang="en-US" sz="33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6350" y="3344144"/>
            <a:ext cx="811530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Instructor : Dr. Urbi Chatterjee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9347" y="2381250"/>
            <a:ext cx="13709306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Start from the provided AES Encryption code.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Modify the Key Expansion logic to be sequential instead of combinational reduces critical path delay and improves timing.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Introduce pipelining in the AES core so that: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first encryption takes multiple cycles (initial latency).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Each subsequent encryption completes in one clock cycle.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Evaluate and report: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Throughput (bits per second)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Throughput / Area efficiency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Initial latency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Design optimizations and architecture details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54029" y="952500"/>
            <a:ext cx="9779942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7610" y="2343838"/>
            <a:ext cx="14052781" cy="6675071"/>
          </a:xfrm>
          <a:custGeom>
            <a:avLst/>
            <a:gdLst/>
            <a:ahLst/>
            <a:cxnLst/>
            <a:rect r="r" b="b" t="t" l="l"/>
            <a:pathLst>
              <a:path h="6675071" w="14052781">
                <a:moveTo>
                  <a:pt x="0" y="0"/>
                </a:moveTo>
                <a:lnTo>
                  <a:pt x="14052780" y="0"/>
                </a:lnTo>
                <a:lnTo>
                  <a:pt x="14052780" y="6675071"/>
                </a:lnTo>
                <a:lnTo>
                  <a:pt x="0" y="6675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74149" y="962025"/>
            <a:ext cx="11139702" cy="67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High-Level Design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54015" y="952500"/>
            <a:ext cx="11179969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AES128_</a:t>
            </a: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KEY_EXPAND_STREAM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6304" y="2462861"/>
            <a:ext cx="14075392" cy="611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This module performs the key expa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nsion for the AES-128 encryption process in a </a:t>
            </a:r>
            <a:r>
              <a:rPr lang="en-US" sz="3500">
                <a:solidFill>
                  <a:srgbClr val="38B6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sequential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manner.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load input wire is the same as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(from the testbench), and the busy output register is the same as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kexp_busy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wire in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aes128_pipeline_stream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module.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rk_out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rk_round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signals were explained in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aes128_pipeline_stream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module description.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4463" y="514350"/>
            <a:ext cx="13179075" cy="9258300"/>
          </a:xfrm>
          <a:custGeom>
            <a:avLst/>
            <a:gdLst/>
            <a:ahLst/>
            <a:cxnLst/>
            <a:rect r="r" b="b" t="t" l="l"/>
            <a:pathLst>
              <a:path h="9258300" w="13179075">
                <a:moveTo>
                  <a:pt x="0" y="0"/>
                </a:moveTo>
                <a:lnTo>
                  <a:pt x="13179074" y="0"/>
                </a:lnTo>
                <a:lnTo>
                  <a:pt x="1317907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4308" y="2397125"/>
            <a:ext cx="15379383" cy="522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he functions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aes_sbox_fn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rcon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rotword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are use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to generate the keys for each round.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aes_sbox_fn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acts as a substitution funct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ion,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rotword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acts as a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rotation function, and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rcon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function provides the 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round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constants.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These function implementations are identical to the original AES specification.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2419" y="514350"/>
            <a:ext cx="11483163" cy="9258300"/>
          </a:xfrm>
          <a:custGeom>
            <a:avLst/>
            <a:gdLst/>
            <a:ahLst/>
            <a:cxnLst/>
            <a:rect r="r" b="b" t="t" l="l"/>
            <a:pathLst>
              <a:path h="9258300" w="11483163">
                <a:moveTo>
                  <a:pt x="0" y="0"/>
                </a:moveTo>
                <a:lnTo>
                  <a:pt x="11483162" y="0"/>
                </a:lnTo>
                <a:lnTo>
                  <a:pt x="1148316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6530" y="514350"/>
            <a:ext cx="12574941" cy="9258300"/>
          </a:xfrm>
          <a:custGeom>
            <a:avLst/>
            <a:gdLst/>
            <a:ahLst/>
            <a:cxnLst/>
            <a:rect r="r" b="b" t="t" l="l"/>
            <a:pathLst>
              <a:path h="9258300" w="12574941">
                <a:moveTo>
                  <a:pt x="0" y="0"/>
                </a:moveTo>
                <a:lnTo>
                  <a:pt x="12574940" y="0"/>
                </a:lnTo>
                <a:lnTo>
                  <a:pt x="1257494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640891"/>
            <a:ext cx="11301259" cy="5919034"/>
          </a:xfrm>
          <a:custGeom>
            <a:avLst/>
            <a:gdLst/>
            <a:ahLst/>
            <a:cxnLst/>
            <a:rect r="r" b="b" t="t" l="l"/>
            <a:pathLst>
              <a:path h="5919034" w="11301259">
                <a:moveTo>
                  <a:pt x="0" y="0"/>
                </a:moveTo>
                <a:lnTo>
                  <a:pt x="11301258" y="0"/>
                </a:lnTo>
                <a:lnTo>
                  <a:pt x="11301258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71550"/>
            <a:ext cx="162306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32-bit registers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w0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w1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w2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w3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represent the four 32-bit words (or columns) of the current key state. The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idx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register tracks the current round of key generation, with its value ranging from 0 to 9. The other registers (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nw0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etc.) act as temporary variables for calculation. During a reset, all these registers are set to 0.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11300"/>
            <a:ext cx="16230600" cy="699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 generation begins here.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load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signal(connected to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in the testbench) is checked. If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load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1, this block executes. It loads the initial key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key_in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into the state registers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w0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-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w3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and sets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busy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to 1 to begin the expansion process. Crucially, it also *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immediately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* streams out the 0th round key (which is just the original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key_in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by setting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rk_out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to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key_in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rk_round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to 0,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to 1 for one cycle. In the testbench,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then set to 0, so this block does not execute again.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busy 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signal remains high to allow the generation of the next 10 round keys.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286" y="1028700"/>
            <a:ext cx="15675429" cy="8229600"/>
          </a:xfrm>
          <a:custGeom>
            <a:avLst/>
            <a:gdLst/>
            <a:ahLst/>
            <a:cxnLst/>
            <a:rect r="r" b="b" t="t" l="l"/>
            <a:pathLst>
              <a:path h="8229600" w="15675429">
                <a:moveTo>
                  <a:pt x="0" y="0"/>
                </a:moveTo>
                <a:lnTo>
                  <a:pt x="15675428" y="0"/>
                </a:lnTo>
                <a:lnTo>
                  <a:pt x="156754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76325"/>
            <a:ext cx="16230600" cy="793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63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the module is not loading (i.e.,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load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0) but is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busy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it enters this block to generate round keys 1 through 10.</a:t>
            </a:r>
          </a:p>
          <a:p>
            <a:pPr algn="just" marL="755651" indent="-377825" lvl="1">
              <a:lnSpc>
                <a:spcPts val="63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logic calculates the next round key based on the current state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w0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-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w3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and stores it in the temporary variables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nw0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-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nw3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just" marL="755651" indent="-377825" lvl="1">
              <a:lnSpc>
                <a:spcPts val="63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These new key words are then (1) latched into the state registers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w0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-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w3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for the *next* cycle’s calculation and (2) simultaneously streamed to the output via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rk_out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just" marL="755651" indent="-377825" lvl="1">
              <a:lnSpc>
                <a:spcPts val="63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rk_round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updated using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idx + 1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rk_valid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set high for one cycle.</a:t>
            </a:r>
          </a:p>
          <a:p>
            <a:pPr algn="just" marL="755651" indent="-377825" lvl="1">
              <a:lnSpc>
                <a:spcPts val="63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When the final round key (rk10) is calculated (when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idx == 9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busy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register is set to 0, stopping the key expansion process.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2419" y="514350"/>
            <a:ext cx="11483163" cy="9258300"/>
          </a:xfrm>
          <a:custGeom>
            <a:avLst/>
            <a:gdLst/>
            <a:ahLst/>
            <a:cxnLst/>
            <a:rect r="r" b="b" t="t" l="l"/>
            <a:pathLst>
              <a:path h="9258300" w="11483163">
                <a:moveTo>
                  <a:pt x="0" y="0"/>
                </a:moveTo>
                <a:lnTo>
                  <a:pt x="11483162" y="0"/>
                </a:lnTo>
                <a:lnTo>
                  <a:pt x="1148316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4989" y="1028700"/>
            <a:ext cx="12058022" cy="8229600"/>
          </a:xfrm>
          <a:custGeom>
            <a:avLst/>
            <a:gdLst/>
            <a:ahLst/>
            <a:cxnLst/>
            <a:rect r="r" b="b" t="t" l="l"/>
            <a:pathLst>
              <a:path h="8229600" w="12058022">
                <a:moveTo>
                  <a:pt x="0" y="0"/>
                </a:moveTo>
                <a:lnTo>
                  <a:pt x="12058022" y="0"/>
                </a:lnTo>
                <a:lnTo>
                  <a:pt x="120580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1085" y="3123645"/>
            <a:ext cx="15125829" cy="30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After receiving round key 0, we can start the encryption process.</a:t>
            </a:r>
          </a:p>
          <a:p>
            <a:pPr algn="just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Since the inputs and the 0th key are ready, we set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in_ready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high.</a:t>
            </a:r>
          </a:p>
          <a:p>
            <a:pPr algn="just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accept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also goes high (as a combination of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in_ready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allowing the module to start accepting plaintexts.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98847" y="6860620"/>
            <a:ext cx="13290305" cy="798946"/>
          </a:xfrm>
          <a:custGeom>
            <a:avLst/>
            <a:gdLst/>
            <a:ahLst/>
            <a:cxnLst/>
            <a:rect r="r" b="b" t="t" l="l"/>
            <a:pathLst>
              <a:path h="798946" w="13290305">
                <a:moveTo>
                  <a:pt x="0" y="0"/>
                </a:moveTo>
                <a:lnTo>
                  <a:pt x="13290306" y="0"/>
                </a:lnTo>
                <a:lnTo>
                  <a:pt x="13290306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31" t="-103413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6565" y="1820057"/>
            <a:ext cx="8354869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Readiness Policy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22247"/>
            <a:ext cx="1623060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following registers and wires are used to build the 11-stage pipeline:</a:t>
            </a: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stage_state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11 registers, each holding the 128-bit output block after each round (stage).</a:t>
            </a: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stage_rk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11 registers, each holding the 128-bit round key for its corresponding stage. </a:t>
            </a: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11 registers; a high value indicates the data in the corresponding </a:t>
            </a:r>
            <a:r>
              <a:rPr lang="en-US" sz="30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stage_state</a:t>
            </a: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valid.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48339" y="611981"/>
            <a:ext cx="10991321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Pipeline Registers and Wires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5055" y="5656200"/>
            <a:ext cx="15377889" cy="3602100"/>
          </a:xfrm>
          <a:custGeom>
            <a:avLst/>
            <a:gdLst/>
            <a:ahLst/>
            <a:cxnLst/>
            <a:rect r="r" b="b" t="t" l="l"/>
            <a:pathLst>
              <a:path h="3602100" w="15377889">
                <a:moveTo>
                  <a:pt x="0" y="0"/>
                </a:moveTo>
                <a:lnTo>
                  <a:pt x="15377890" y="0"/>
                </a:lnTo>
                <a:lnTo>
                  <a:pt x="15377890" y="3602100"/>
                </a:lnTo>
                <a:lnTo>
                  <a:pt x="0" y="360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" t="0" r="0" b="-10000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17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8865" y="6032704"/>
            <a:ext cx="15850269" cy="2565773"/>
          </a:xfrm>
          <a:custGeom>
            <a:avLst/>
            <a:gdLst/>
            <a:ahLst/>
            <a:cxnLst/>
            <a:rect r="r" b="b" t="t" l="l"/>
            <a:pathLst>
              <a:path h="2565773" w="15850269">
                <a:moveTo>
                  <a:pt x="0" y="0"/>
                </a:moveTo>
                <a:lnTo>
                  <a:pt x="15850270" y="0"/>
                </a:lnTo>
                <a:lnTo>
                  <a:pt x="15850270" y="2565772"/>
                </a:lnTo>
                <a:lnTo>
                  <a:pt x="0" y="2565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" t="-188936" r="0" b="-4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21849"/>
            <a:ext cx="16230600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sb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128-bit wires connecting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aes_subbytes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module output to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aes_shiftrows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module input for each round.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sr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128-bit wires connecting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aes_shiftrows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output to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aes_mixcolumns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input for each round.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mc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An array of 128-bit wires representing the output from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aes_mixcolumns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module for each round.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73463"/>
            <a:ext cx="16230600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We use a generate loop to instantiate the transformation modules for rounds 1 through 9.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This creates 9 instances of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aes_subbytes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9 instances of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aes_shiftrows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9 instances of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aes_mixcolumns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the final round (stage 10),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aes_subbytes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aes_shiftrows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are instantiated separately, as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aes_mixcolumns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step is skipped.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4063" y="1680101"/>
            <a:ext cx="12639875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Combinational Round Transforms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471327"/>
            <a:ext cx="16230600" cy="7344347"/>
          </a:xfrm>
          <a:custGeom>
            <a:avLst/>
            <a:gdLst/>
            <a:ahLst/>
            <a:cxnLst/>
            <a:rect r="r" b="b" t="t" l="l"/>
            <a:pathLst>
              <a:path h="7344347" w="16230600">
                <a:moveTo>
                  <a:pt x="0" y="0"/>
                </a:moveTo>
                <a:lnTo>
                  <a:pt x="16230600" y="0"/>
                </a:lnTo>
                <a:lnTo>
                  <a:pt x="16230600" y="7344346"/>
                </a:lnTo>
                <a:lnTo>
                  <a:pt x="0" y="734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41291" y="952500"/>
            <a:ext cx="10205419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Sequential Pipeline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89225"/>
            <a:ext cx="16230600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main sequential pipeline logic begins in an always block.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Reset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During an active-low reset (!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rst_n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a for loop initializes all 11 stages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stage_state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stage_rk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to 0.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033195" y="6356914"/>
            <a:ext cx="12004279" cy="2647787"/>
          </a:xfrm>
          <a:custGeom>
            <a:avLst/>
            <a:gdLst/>
            <a:ahLst/>
            <a:cxnLst/>
            <a:rect r="r" b="b" t="t" l="l"/>
            <a:pathLst>
              <a:path h="2647787" w="12004279">
                <a:moveTo>
                  <a:pt x="0" y="0"/>
                </a:moveTo>
                <a:lnTo>
                  <a:pt x="12004278" y="0"/>
                </a:lnTo>
                <a:lnTo>
                  <a:pt x="12004278" y="2647788"/>
                </a:lnTo>
                <a:lnTo>
                  <a:pt x="0" y="264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577" r="0" b="-69084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60450"/>
            <a:ext cx="16230600" cy="345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 0 (Initial Round)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When a new input is accepted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accept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high), the logic for stage 0 executes. It selects the correct round key 0 and stores it in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stage_rk[0]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ctr">
              <a:lnSpc>
                <a:spcPts val="7000"/>
              </a:lnSpc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It then XORs this key with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in_block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(plaintext) and stores the result in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stage_state[0]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stage_valid[0]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set high.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11246" y="5815031"/>
            <a:ext cx="13665507" cy="509266"/>
          </a:xfrm>
          <a:custGeom>
            <a:avLst/>
            <a:gdLst/>
            <a:ahLst/>
            <a:cxnLst/>
            <a:rect r="r" b="b" t="t" l="l"/>
            <a:pathLst>
              <a:path h="509266" w="13665507">
                <a:moveTo>
                  <a:pt x="0" y="0"/>
                </a:moveTo>
                <a:lnTo>
                  <a:pt x="13665508" y="0"/>
                </a:lnTo>
                <a:lnTo>
                  <a:pt x="13665508" y="509266"/>
                </a:lnTo>
                <a:lnTo>
                  <a:pt x="0" y="509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2" t="0" r="-401" b="-16003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1246" y="5143500"/>
            <a:ext cx="13665507" cy="671531"/>
          </a:xfrm>
          <a:custGeom>
            <a:avLst/>
            <a:gdLst/>
            <a:ahLst/>
            <a:cxnLst/>
            <a:rect r="r" b="b" t="t" l="l"/>
            <a:pathLst>
              <a:path h="671531" w="13665507">
                <a:moveTo>
                  <a:pt x="0" y="0"/>
                </a:moveTo>
                <a:lnTo>
                  <a:pt x="13665508" y="0"/>
                </a:lnTo>
                <a:lnTo>
                  <a:pt x="13665508" y="671531"/>
                </a:lnTo>
                <a:lnTo>
                  <a:pt x="0" y="671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2" t="0" r="-40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11246" y="6954599"/>
            <a:ext cx="13665507" cy="2084923"/>
          </a:xfrm>
          <a:custGeom>
            <a:avLst/>
            <a:gdLst/>
            <a:ahLst/>
            <a:cxnLst/>
            <a:rect r="r" b="b" t="t" l="l"/>
            <a:pathLst>
              <a:path h="2084923" w="13665507">
                <a:moveTo>
                  <a:pt x="0" y="0"/>
                </a:moveTo>
                <a:lnTo>
                  <a:pt x="13665508" y="0"/>
                </a:lnTo>
                <a:lnTo>
                  <a:pt x="13665508" y="2084923"/>
                </a:lnTo>
                <a:lnTo>
                  <a:pt x="0" y="2084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2" t="-262336" r="-401" b="-52988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Stages 1-10 (Pipelined Rounds)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The pipeline stages are advanced using a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loop that runs from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s=10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down to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s=1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 This structure shifts data from a lower stage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s-1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 to a higher stage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loop computes the state for stage s only if the previous stage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  [s-1]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high.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69295" y="4252457"/>
            <a:ext cx="13760010" cy="1782086"/>
          </a:xfrm>
          <a:custGeom>
            <a:avLst/>
            <a:gdLst/>
            <a:ahLst/>
            <a:cxnLst/>
            <a:rect r="r" b="b" t="t" l="l"/>
            <a:pathLst>
              <a:path h="1782086" w="13760010">
                <a:moveTo>
                  <a:pt x="0" y="0"/>
                </a:moveTo>
                <a:lnTo>
                  <a:pt x="13760009" y="0"/>
                </a:lnTo>
                <a:lnTo>
                  <a:pt x="13760009" y="1782086"/>
                </a:lnTo>
                <a:lnTo>
                  <a:pt x="0" y="1782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5" t="0" r="0" b="-36179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547872"/>
            <a:ext cx="1623060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rounds 1-9: The next state (stage_state[s]) is computed by XORing the output of the combinational MixColumns (mc[s]) with the captured round key.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269295" y="7982972"/>
            <a:ext cx="13749411" cy="1075758"/>
          </a:xfrm>
          <a:custGeom>
            <a:avLst/>
            <a:gdLst/>
            <a:ahLst/>
            <a:cxnLst/>
            <a:rect r="r" b="b" t="t" l="l"/>
            <a:pathLst>
              <a:path h="1075758" w="13749411">
                <a:moveTo>
                  <a:pt x="0" y="0"/>
                </a:moveTo>
                <a:lnTo>
                  <a:pt x="13749410" y="0"/>
                </a:lnTo>
                <a:lnTo>
                  <a:pt x="13749410" y="1075757"/>
                </a:lnTo>
                <a:lnTo>
                  <a:pt x="0" y="1075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74" t="-272736" r="0" b="-392268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the final round (s=10): The next state (stage_state[10]) is computed by XORing the output of the combinational ShiftRows (sr[10]) with the round key.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 all cases, stage_valid[s] is set high.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63995" y="3399213"/>
            <a:ext cx="13760010" cy="1637198"/>
          </a:xfrm>
          <a:custGeom>
            <a:avLst/>
            <a:gdLst/>
            <a:ahLst/>
            <a:cxnLst/>
            <a:rect r="r" b="b" t="t" l="l"/>
            <a:pathLst>
              <a:path h="1637198" w="13760010">
                <a:moveTo>
                  <a:pt x="0" y="0"/>
                </a:moveTo>
                <a:lnTo>
                  <a:pt x="13760010" y="0"/>
                </a:lnTo>
                <a:lnTo>
                  <a:pt x="13760010" y="1637198"/>
                </a:lnTo>
                <a:lnTo>
                  <a:pt x="0" y="1637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5" t="-24336" r="0" b="-3783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677741"/>
            <a:ext cx="1623060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Now after computing for stage_state[s] and setting it to 1 stage_valid[s-1] is cleared to 0.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263995" y="7598616"/>
            <a:ext cx="13760010" cy="1057647"/>
          </a:xfrm>
          <a:custGeom>
            <a:avLst/>
            <a:gdLst/>
            <a:ahLst/>
            <a:cxnLst/>
            <a:rect r="r" b="b" t="t" l="l"/>
            <a:pathLst>
              <a:path h="1057647" w="13760010">
                <a:moveTo>
                  <a:pt x="0" y="0"/>
                </a:moveTo>
                <a:lnTo>
                  <a:pt x="13760010" y="0"/>
                </a:lnTo>
                <a:lnTo>
                  <a:pt x="13760010" y="1057646"/>
                </a:lnTo>
                <a:lnTo>
                  <a:pt x="0" y="105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5" t="-520565" r="0" b="-157539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93147"/>
            <a:ext cx="16230600" cy="3327273"/>
          </a:xfrm>
          <a:custGeom>
            <a:avLst/>
            <a:gdLst/>
            <a:ahLst/>
            <a:cxnLst/>
            <a:rect r="r" b="b" t="t" l="l"/>
            <a:pathLst>
              <a:path h="3327273" w="16230600">
                <a:moveTo>
                  <a:pt x="0" y="0"/>
                </a:moveTo>
                <a:lnTo>
                  <a:pt x="16230600" y="0"/>
                </a:lnTo>
                <a:lnTo>
                  <a:pt x="16230600" y="3327273"/>
                </a:lnTo>
                <a:lnTo>
                  <a:pt x="0" y="3327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3547"/>
            <a:ext cx="16230600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final outputs are assigned combinationally.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out_block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assigned the value of the last pipeline stage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stage_state[10]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and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out_valid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assigned the validity bit of the last stage (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stage_valid[10]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). When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stage_valid[10]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is high, the </a:t>
            </a:r>
            <a:r>
              <a:rPr lang="en-US" sz="3500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out_block</a:t>
            </a:r>
            <a:r>
              <a:rPr lang="en-US" sz="35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contains the final, valid ciphertext.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39108" y="952500"/>
            <a:ext cx="7009785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Final Output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27372" y="847725"/>
            <a:ext cx="7833255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8879" y="3301762"/>
            <a:ext cx="5630242" cy="531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Clock Frequency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Slack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Throughput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Area Utilization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Waveform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GTKTerm Output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53832" y="2365591"/>
            <a:ext cx="9180336" cy="1914198"/>
          </a:xfrm>
          <a:custGeom>
            <a:avLst/>
            <a:gdLst/>
            <a:ahLst/>
            <a:cxnLst/>
            <a:rect r="r" b="b" t="t" l="l"/>
            <a:pathLst>
              <a:path h="1914198" w="9180336">
                <a:moveTo>
                  <a:pt x="0" y="0"/>
                </a:moveTo>
                <a:lnTo>
                  <a:pt x="9180336" y="0"/>
                </a:lnTo>
                <a:lnTo>
                  <a:pt x="9180336" y="1914198"/>
                </a:lnTo>
                <a:lnTo>
                  <a:pt x="0" y="191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3913" y="904875"/>
            <a:ext cx="6280175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Clock Frequency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081175" y="5807858"/>
            <a:ext cx="12125650" cy="2879842"/>
          </a:xfrm>
          <a:custGeom>
            <a:avLst/>
            <a:gdLst/>
            <a:ahLst/>
            <a:cxnLst/>
            <a:rect r="r" b="b" t="t" l="l"/>
            <a:pathLst>
              <a:path h="2879842" w="12125650">
                <a:moveTo>
                  <a:pt x="0" y="0"/>
                </a:moveTo>
                <a:lnTo>
                  <a:pt x="12125650" y="0"/>
                </a:lnTo>
                <a:lnTo>
                  <a:pt x="12125650" y="2879842"/>
                </a:lnTo>
                <a:lnTo>
                  <a:pt x="0" y="2879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15103" y="4460070"/>
            <a:ext cx="7057794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Slack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85406" y="904875"/>
            <a:ext cx="10117187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Throughput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4354" y="5755977"/>
            <a:ext cx="9459292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Initial Latency  </a:t>
            </a: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= 11 × 5ns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                    = 55 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39494" y="2925465"/>
            <a:ext cx="8409012" cy="184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Throughput = 128 × fmax bits/second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                    = 128 × 200 × 10⁶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                    = 25.60 Gbps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45375"/>
            <a:ext cx="162306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After the initial latency period, the architecture processes one 128-bit block per clock cycle. Hence, the throughput is directly proportional to the operating frequency (fmax) achieved on the PYNQ board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89" y="2263231"/>
            <a:ext cx="13715821" cy="6995069"/>
          </a:xfrm>
          <a:custGeom>
            <a:avLst/>
            <a:gdLst/>
            <a:ahLst/>
            <a:cxnLst/>
            <a:rect r="r" b="b" t="t" l="l"/>
            <a:pathLst>
              <a:path h="6995069" w="13715821">
                <a:moveTo>
                  <a:pt x="0" y="0"/>
                </a:moveTo>
                <a:lnTo>
                  <a:pt x="13715822" y="0"/>
                </a:lnTo>
                <a:lnTo>
                  <a:pt x="13715822" y="6995069"/>
                </a:lnTo>
                <a:lnTo>
                  <a:pt x="0" y="699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39160" y="795337"/>
            <a:ext cx="6009680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Area Utilization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8617" y="6676796"/>
            <a:ext cx="12890765" cy="2732316"/>
          </a:xfrm>
          <a:custGeom>
            <a:avLst/>
            <a:gdLst/>
            <a:ahLst/>
            <a:cxnLst/>
            <a:rect r="r" b="b" t="t" l="l"/>
            <a:pathLst>
              <a:path h="2732316" w="12890765">
                <a:moveTo>
                  <a:pt x="0" y="0"/>
                </a:moveTo>
                <a:lnTo>
                  <a:pt x="12890766" y="0"/>
                </a:lnTo>
                <a:lnTo>
                  <a:pt x="12890766" y="2732316"/>
                </a:lnTo>
                <a:lnTo>
                  <a:pt x="0" y="2732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45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85647" y="1810250"/>
            <a:ext cx="11716706" cy="4393765"/>
          </a:xfrm>
          <a:custGeom>
            <a:avLst/>
            <a:gdLst/>
            <a:ahLst/>
            <a:cxnLst/>
            <a:rect r="r" b="b" t="t" l="l"/>
            <a:pathLst>
              <a:path h="4393765" w="11716706">
                <a:moveTo>
                  <a:pt x="0" y="0"/>
                </a:moveTo>
                <a:lnTo>
                  <a:pt x="11716706" y="0"/>
                </a:lnTo>
                <a:lnTo>
                  <a:pt x="11716706" y="4393765"/>
                </a:lnTo>
                <a:lnTo>
                  <a:pt x="0" y="4393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90327" y="445294"/>
            <a:ext cx="6307346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Waveform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6005" y="2160657"/>
            <a:ext cx="8995990" cy="7097643"/>
          </a:xfrm>
          <a:custGeom>
            <a:avLst/>
            <a:gdLst/>
            <a:ahLst/>
            <a:cxnLst/>
            <a:rect r="r" b="b" t="t" l="l"/>
            <a:pathLst>
              <a:path h="7097643" w="8995990">
                <a:moveTo>
                  <a:pt x="0" y="0"/>
                </a:moveTo>
                <a:lnTo>
                  <a:pt x="8995990" y="0"/>
                </a:lnTo>
                <a:lnTo>
                  <a:pt x="8995990" y="7097643"/>
                </a:lnTo>
                <a:lnTo>
                  <a:pt x="0" y="7097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6805" y="795337"/>
            <a:ext cx="6554391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GTKTerm Output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32200"/>
            <a:ext cx="16230600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[1] Y. Zhang and X. Wang, “</a:t>
            </a:r>
            <a:r>
              <a:rPr lang="en-US" sz="2999">
                <a:solidFill>
                  <a:srgbClr val="FF914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Pipelined implementation of AES encryption based on FPGA</a:t>
            </a:r>
            <a:r>
              <a:rPr lang="en-US" sz="29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”, in Proceedings of the 2010 IEEE International Conference on Information Theory and Information Security (ICITIS), Beijing, China, 2010, pp. 170–173,doi:10.1109/ICITIS.2010.5688757.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916849" y="1676400"/>
            <a:ext cx="6454302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References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5850" y="1524576"/>
            <a:ext cx="2230473" cy="2230473"/>
          </a:xfrm>
          <a:custGeom>
            <a:avLst/>
            <a:gdLst/>
            <a:ahLst/>
            <a:cxnLst/>
            <a:rect r="r" b="b" t="t" l="l"/>
            <a:pathLst>
              <a:path h="2230473" w="2230473">
                <a:moveTo>
                  <a:pt x="0" y="0"/>
                </a:moveTo>
                <a:lnTo>
                  <a:pt x="2230473" y="0"/>
                </a:lnTo>
                <a:lnTo>
                  <a:pt x="2230473" y="2230472"/>
                </a:lnTo>
                <a:lnTo>
                  <a:pt x="0" y="2230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2918" y="1490028"/>
            <a:ext cx="1819651" cy="2265021"/>
          </a:xfrm>
          <a:custGeom>
            <a:avLst/>
            <a:gdLst/>
            <a:ahLst/>
            <a:cxnLst/>
            <a:rect r="r" b="b" t="t" l="l"/>
            <a:pathLst>
              <a:path h="2265021" w="1819651">
                <a:moveTo>
                  <a:pt x="0" y="0"/>
                </a:moveTo>
                <a:lnTo>
                  <a:pt x="1819651" y="0"/>
                </a:lnTo>
                <a:lnTo>
                  <a:pt x="1819651" y="2265020"/>
                </a:lnTo>
                <a:lnTo>
                  <a:pt x="0" y="2265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2087" y="4313471"/>
            <a:ext cx="13463827" cy="241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true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65795" y="6930812"/>
            <a:ext cx="1215641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8B6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“</a:t>
            </a:r>
            <a:r>
              <a:rPr lang="en-US" sz="2000">
                <a:solidFill>
                  <a:srgbClr val="38B6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measure of what we are is what we do with what we have"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8B6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~Vince Lombard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82357" y="1204278"/>
            <a:ext cx="1923286" cy="260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0"/>
              </a:lnSpc>
            </a:pPr>
            <a:r>
              <a:rPr lang="en-US" sz="15164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🙏🏻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78405" y="3973746"/>
            <a:ext cx="266536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Dr. </a:t>
            </a: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Debapriya Basu Roy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12157" y="3973746"/>
            <a:ext cx="212117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Dr. Urbi Chatterjee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1126" y="981075"/>
            <a:ext cx="343992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Instructor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2783" y="981075"/>
            <a:ext cx="343992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91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Instructor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DAG4eSiTvSs</dc:identifier>
  <dcterms:modified xsi:type="dcterms:W3CDTF">2011-08-01T06:04:30Z</dcterms:modified>
  <cp:revision>1</cp:revision>
  <dc:title>AES Pipelined</dc:title>
</cp:coreProperties>
</file>